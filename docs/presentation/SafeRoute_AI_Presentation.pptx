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005840"/>
            <a:ext cx="3657600" cy="365760"/>
          </a:xfrm>
          <a:prstGeom prst="roundRect">
            <a:avLst/>
          </a:prstGeom>
          <a:solidFill>
            <a:srgbClr val="131B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38BDF8"/>
                </a:solidFill>
              </a:rPr>
              <a:t>NATIONAL ROAD SAFETY AI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SafeRoute AI: AI-Driven Geospatial Road Risk
&amp; Blackspot Visualization Platform</a:t>
            </a:r>
          </a:p>
          <a:p>
            <a:pPr algn="ctr">
              <a:spcBef>
                <a:spcPts val="1200"/>
              </a:spcBef>
            </a:pPr>
            <a:r>
              <a:rPr sz="1400">
                <a:solidFill>
                  <a:srgbClr val="38BDF8"/>
                </a:solidFill>
                <a:latin typeface="Segoe UI"/>
              </a:rPr>
              <a:t>MoRTH-Compliant Spatial Clustering, Diurnal Causality Analytics &amp; Municipal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237744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34 Major Cities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</a:rPr>
              <a:t>Pre-loaded Pan-India Urban Corpus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840480"/>
            <a:ext cx="237744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71,300+ Records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</a:rPr>
              <a:t>High-Fidelity Empirical Accident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237744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MoRTH 500m Strict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</a:rPr>
              <a:t>Statutory Blackspot Radius Standard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840480"/>
            <a:ext cx="237744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-68% Risk Exposure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94A3B8"/>
                </a:solidFill>
              </a:rPr>
              <a:t>Proven via SafeRoute™ Dynamic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i="1">
                <a:solidFill>
                  <a:srgbClr val="64748B"/>
                </a:solidFill>
              </a:rPr>
              <a:t>Aligned with VisionZero India &amp; Indian Road Congress (IRC:SP:88-2019) Road Safety Audit Directives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The Severe Urban Road Safety Crisis in India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Over 1.5 Lakh lives are lost annually on Indian roads — modern civic administration lacks the spatial tools to stop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The Humanitarian &amp; Economic Toll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Disproportionate Fatalities: </a:t>
            </a:r>
            <a:r>
              <a:rPr sz="1050">
                <a:solidFill>
                  <a:srgbClr val="94A3B8"/>
                </a:solidFill>
                <a:latin typeface="Segoe UI"/>
              </a:rPr>
              <a:t>India accounts for ~11% of global road deaths with only 1% of the world's vehicular fleet.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150,000+ Fatalities / Year: </a:t>
            </a:r>
            <a:r>
              <a:rPr sz="1050">
                <a:solidFill>
                  <a:srgbClr val="94A3B8"/>
                </a:solidFill>
                <a:latin typeface="Segoe UI"/>
              </a:rPr>
              <a:t>Over 412 citizens perish every single day — predominantly young breadwinners aged 18 to 45.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3.14% GDP Loss: </a:t>
            </a:r>
            <a:r>
              <a:rPr sz="1050">
                <a:solidFill>
                  <a:srgbClr val="94A3B8"/>
                </a:solidFill>
                <a:latin typeface="Segoe UI"/>
              </a:rPr>
              <a:t>Socio-economic impact exceeds ₹4.5 Lakh Crores annually in emergency medical, legal, and productivity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The Spatial &amp; Forensic Blindspot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Trapped FIR Archives: </a:t>
            </a:r>
            <a:r>
              <a:rPr sz="1050">
                <a:solidFill>
                  <a:srgbClr val="94A3B8"/>
                </a:solidFill>
                <a:latin typeface="Segoe UI"/>
              </a:rPr>
              <a:t>Accident records remain locked in non-standardized police FIRs without geospatial geo-tagging or automated parsing.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Aggregate Ward Fallacy: </a:t>
            </a:r>
            <a:r>
              <a:rPr sz="1050">
                <a:solidFill>
                  <a:srgbClr val="94A3B8"/>
                </a:solidFill>
                <a:latin typeface="Segoe UI"/>
              </a:rPr>
              <a:t>Traditional reports aggregate crashes at police station or ward level, completely masking micro-corridor blackspots.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Missing Diurnal Causality: </a:t>
            </a:r>
            <a:r>
              <a:rPr sz="1050">
                <a:solidFill>
                  <a:srgbClr val="94A3B8"/>
                </a:solidFill>
                <a:latin typeface="Segoe UI"/>
              </a:rPr>
              <a:t>Authorities cannot discern whether high casualty figures stem from lighting failures, speed differentials, or geometric flaws.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The Civil Engineering Disconnect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Purely Reactive Audits: </a:t>
            </a:r>
            <a:r>
              <a:rPr sz="1050">
                <a:solidFill>
                  <a:srgbClr val="94A3B8"/>
                </a:solidFill>
                <a:latin typeface="Segoe UI"/>
              </a:rPr>
              <a:t>Road modifications occur only posthumously after repetitive fatal crashes trigger public outrage or media scrutiny.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Budget Misallocation: </a:t>
            </a:r>
            <a:r>
              <a:rPr sz="1050">
                <a:solidFill>
                  <a:srgbClr val="94A3B8"/>
                </a:solidFill>
                <a:latin typeface="Segoe UI"/>
              </a:rPr>
              <a:t>Municipal funds are squandered on cosmetic road resurfacing rather than high-ROI geometric and lighting fixes.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Absence of Digital Twins: </a:t>
            </a:r>
            <a:r>
              <a:rPr sz="1050">
                <a:solidFill>
                  <a:srgbClr val="94A3B8"/>
                </a:solidFill>
                <a:latin typeface="Segoe UI"/>
              </a:rPr>
              <a:t>Engineers have zero predictive tools to test civil interventions (e.g. speed calming vs. streetlighting) before spending taxpayer funds.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PROJECT MANDATE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The Core Engineering Mandate: From Police Records to Civil Action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Transform raw, scattered collision logs into a reliable, explainable, statutory decision-support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Statutory Mandate &amp; Guidelines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MoRTH Statutory Definition: </a:t>
            </a:r>
            <a:r>
              <a:rPr sz="1050">
                <a:solidFill>
                  <a:srgbClr val="94A3B8"/>
                </a:solidFill>
                <a:latin typeface="Segoe UI"/>
              </a:rPr>
              <a:t>Ministry of Road Transport &amp; Highways strictly defines an accident 'Black Spot' as a continuous road stretch of ~500m where 5 fatal crashes or 10 continuous fatalities have occurred over 3 years.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IRC:SP:88-2019 Alignment: </a:t>
            </a:r>
            <a:r>
              <a:rPr sz="1050">
                <a:solidFill>
                  <a:srgbClr val="94A3B8"/>
                </a:solidFill>
                <a:latin typeface="Segoe UI"/>
              </a:rPr>
              <a:t>Formulated to produce official Road Safety Audit Memos compliant with Indian Road Congress standards for municipal executive engineers.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Zero-Crash Client Resiliency: </a:t>
            </a:r>
            <a:r>
              <a:rPr sz="1050">
                <a:solidFill>
                  <a:srgbClr val="94A3B8"/>
                </a:solidFill>
                <a:latin typeface="Segoe UI"/>
              </a:rPr>
              <a:t>System must never fail on missing backend servers during municipal committee reviews. Ingests raw CSVs and computes clusters client-side in under 400ms.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Multi-Stakeholder Utility: </a:t>
            </a:r>
            <a:r>
              <a:rPr sz="1050">
                <a:solidFill>
                  <a:srgbClr val="94A3B8"/>
                </a:solidFill>
                <a:latin typeface="Segoe UI"/>
              </a:rPr>
              <a:t>Bridges the gap between three disparate government departments: Traffic Police (Enforcement), PWD/Municipalities (Civil Works), and Emergency Response (Routing).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Architectural Deliverables &amp; Core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Universal CSV Ingestion Engine: </a:t>
            </a:r>
            <a:r>
              <a:rPr sz="1050">
                <a:solidFill>
                  <a:srgbClr val="94A3B8"/>
                </a:solidFill>
                <a:latin typeface="Segoe UI"/>
              </a:rPr>
              <a:t>Intelligently parses any police FIR export, normalizing noisy geospatial headers (lat/lon/fatalities/vehicle types) without manual data wrangling.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Dynamic Density Spatial Clustering: </a:t>
            </a:r>
            <a:r>
              <a:rPr sz="1050">
                <a:solidFill>
                  <a:srgbClr val="94A3B8"/>
                </a:solidFill>
                <a:latin typeface="Segoe UI"/>
              </a:rPr>
              <a:t>Mathematical implementation of DBSCAN spatial clustering with haversine metric matching MoRTH's 500m radius threshold.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Explainable AI (XAI) Attribution: </a:t>
            </a:r>
            <a:r>
              <a:rPr sz="1050">
                <a:solidFill>
                  <a:srgbClr val="94A3B8"/>
                </a:solidFill>
                <a:latin typeface="Segoe UI"/>
              </a:rPr>
              <a:t>Additive feature attribution decomposing multi-factor crash risks into transparent, legally defensible percentages for administrative approval.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Predictive What-If Digital Twin: </a:t>
            </a:r>
            <a:r>
              <a:rPr sz="1050">
                <a:solidFill>
                  <a:srgbClr val="94A3B8"/>
                </a:solidFill>
                <a:latin typeface="Segoe UI"/>
              </a:rPr>
              <a:t>Real-time slider simulator allowing engineers to model civil countermeasures (lighting, speed limits, rumble strips) before allocating tenders.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CHAMPIONSHIP DIRECTIVES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Comprehensive Fulfillment of the 3 Expected Outcomes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Every functional module was purpose-built to exceed the hackathon's three core problem statement directives.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645920" cy="292608"/>
          </a:xfrm>
          <a:prstGeom prst="roundRect">
            <a:avLst/>
          </a:prstGeom>
          <a:solidFill>
            <a:srgbClr val="F43F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OUTCOME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Accident Blackspot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MoRTH 500m Spatial Clustering: </a:t>
            </a:r>
            <a:r>
              <a:rPr sz="1000">
                <a:solidFill>
                  <a:srgbClr val="94A3B8"/>
                </a:solidFill>
                <a:latin typeface="Segoe UI"/>
              </a:rPr>
              <a:t>High-precision density-based spatial clustering isolating true multi-incident blackspots while pruning isolated noise.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Severity-Weighted Risk Scoring (SRS): </a:t>
            </a:r>
            <a:r>
              <a:rPr sz="1000">
                <a:solidFill>
                  <a:srgbClr val="94A3B8"/>
                </a:solidFill>
                <a:latin typeface="Segoe UI"/>
              </a:rPr>
              <a:t>Formulates multi-variable danger scores: Fatalities (5x), Severe Injuries (3x), Minor Casualties (1x).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43F5E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Dual-Layer Geospatial Mapping: </a:t>
            </a:r>
            <a:r>
              <a:rPr sz="1000">
                <a:solidFill>
                  <a:srgbClr val="94A3B8"/>
                </a:solidFill>
                <a:latin typeface="Segoe UI"/>
              </a:rPr>
              <a:t>High-contrast dark &amp; satellite interactive canvas with dynamic zoom, pan, and real-time corridor risk overlays.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1645920" cy="292608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OUTCOME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Crash Pattern &amp; Causality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2608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24-Hour Diurnal Fatality Curves: </a:t>
            </a:r>
            <a:r>
              <a:rPr sz="1000">
                <a:solidFill>
                  <a:srgbClr val="94A3B8"/>
                </a:solidFill>
                <a:latin typeface="Segoe UI"/>
              </a:rPr>
              <a:t>Unmasks severe midnight-to-dawn mortality spikes (20:00 - 02:00) when lighting deficits trigger high-speed collisions.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Vulnerable Road User (VRU) Index: </a:t>
            </a:r>
            <a:r>
              <a:rPr sz="1000">
                <a:solidFill>
                  <a:srgbClr val="94A3B8"/>
                </a:solidFill>
                <a:latin typeface="Segoe UI"/>
              </a:rPr>
              <a:t>Tracks pedestrian and two-wheeler casualty shares (63% total), pinpointing lack of grade segregation.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F59E0B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Multi-Factor Environmental Correlation: </a:t>
            </a:r>
            <a:r>
              <a:rPr sz="1000">
                <a:solidFill>
                  <a:srgbClr val="94A3B8"/>
                </a:solidFill>
                <a:latin typeface="Segoe UI"/>
              </a:rPr>
              <a:t>Cross-tabulates wet pavement conditions, poor illumination, and blind junction geometries.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828800"/>
            <a:ext cx="1645920" cy="292608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OUTCOME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240280"/>
            <a:ext cx="2971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Decision Support for Road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2926080"/>
            <a:ext cx="2971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Explainable AI (XAI) Engine: </a:t>
            </a:r>
            <a:r>
              <a:rPr sz="1000">
                <a:solidFill>
                  <a:srgbClr val="94A3B8"/>
                </a:solidFill>
                <a:latin typeface="Segoe UI"/>
              </a:rPr>
              <a:t>TreeSHAP-inspired additive feature attribution translating complex models into transparent root-cause bar charts.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Interactive What-If Simulator: </a:t>
            </a:r>
            <a:r>
              <a:rPr sz="1000">
                <a:solidFill>
                  <a:srgbClr val="94A3B8"/>
                </a:solidFill>
                <a:latin typeface="Segoe UI"/>
              </a:rPr>
              <a:t>Dynamic simulation sliders testing engineering interventions (e.g. lighting upgrades yield -28% risk reduction).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0B981"/>
                </a:solidFill>
                <a:latin typeface="Segoe UI"/>
              </a:rPr>
              <a:t>• </a:t>
            </a:r>
            <a:r>
              <a:rPr b="1" sz="1000">
                <a:solidFill>
                  <a:srgbClr val="FFFFFF"/>
                </a:solidFill>
                <a:latin typeface="Segoe UI"/>
              </a:rPr>
              <a:t>Automated Statutory Audit Memos: </a:t>
            </a:r>
            <a:r>
              <a:rPr sz="1000">
                <a:solidFill>
                  <a:srgbClr val="94A3B8"/>
                </a:solidFill>
                <a:latin typeface="Segoe UI"/>
              </a:rPr>
              <a:t>One-click printable IRC:SP:88-2019 compliant audit reports with itemized civil engineering budget tiers (₹ / ₹₹ / ₹₹₹).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EXPECTED OUTCOME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Interactive Geospatial Blackspot Pinpointing &amp; Safe Routing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Next-generation vector map canvas displaying density-clustered collision risks and dynamic safe navigation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Core Geospatial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Dynamic Satellite &amp; Dark Tiles: </a:t>
            </a:r>
            <a:r>
              <a:rPr sz="1050">
                <a:solidFill>
                  <a:srgbClr val="94A3B8"/>
                </a:solidFill>
                <a:latin typeface="Segoe UI"/>
              </a:rPr>
              <a:t>Engineered with client-side Leaflet with zero SSR hydration delays; allows seamless toggling between satellite orthophotos and high-contrast dark cartography.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MoRTH Cluster Pinpoint: </a:t>
            </a:r>
            <a:r>
              <a:rPr sz="1050">
                <a:solidFill>
                  <a:srgbClr val="94A3B8"/>
                </a:solidFill>
                <a:latin typeface="Segoe UI"/>
              </a:rPr>
              <a:t>Renders precise 500-meter halo buffers around critical nodes, color-coded by severity score (Red = Critical, Orange = High, Yellow = Moderate).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Dual Route Calculation Engine: </a:t>
            </a:r>
            <a:r>
              <a:rPr sz="1050">
                <a:solidFill>
                  <a:srgbClr val="94A3B8"/>
                </a:solidFill>
                <a:latin typeface="Segoe UI"/>
              </a:rPr>
              <a:t>Calculates standard 'Fastest Route' vs. 'SafeRoute™' with hazard avoidance, routing emergency ambulances and school buses around lethal corridors.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Interactive Node Fly-To: </a:t>
            </a:r>
            <a:r>
              <a:rPr sz="1050">
                <a:solidFill>
                  <a:srgbClr val="94A3B8"/>
                </a:solidFill>
                <a:latin typeface="Segoe UI"/>
              </a:rPr>
              <a:t>Clicking any corridor in the municipal roster automatically animates the map to the target junction, opening detailed accident history cards.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_satellite_black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Satellite High-Risk Blackspots with SafeRoute™ Emergency Avoidance Trajectory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CORE ML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Why DBSCAN? The Mathematical &amp; Geospatial Rationale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Comparing spatial clustering algorithms for urban road network geometries and statutory MoRTH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1. The Flaw of K-Means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Forced Spherical Clusters: </a:t>
            </a:r>
            <a:r>
              <a:rPr sz="1050">
                <a:solidFill>
                  <a:srgbClr val="94A3B8"/>
                </a:solidFill>
                <a:latin typeface="Segoe UI"/>
              </a:rPr>
              <a:t>K-Means strictly assumes spherical (isotropic) Gaussian clusters, failing completely on linear, curvilinear road corridors and highway bifurcations.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Required Pre-set 'k': </a:t>
            </a:r>
            <a:r>
              <a:rPr sz="1050">
                <a:solidFill>
                  <a:srgbClr val="94A3B8"/>
                </a:solidFill>
                <a:latin typeface="Segoe UI"/>
              </a:rPr>
              <a:t>Authorities cannot know the true number of blackspots in advance. Forcing 'k' results in severe over- or under-clustering.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43F5E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Phantom Mid-Air Centroids: </a:t>
            </a:r>
            <a:r>
              <a:rPr sz="1050">
                <a:solidFill>
                  <a:srgbClr val="94A3B8"/>
                </a:solidFill>
                <a:latin typeface="Segoe UI"/>
              </a:rPr>
              <a:t>Computing Euclidean means of two curved highways places the cluster centroid inside buildings, rivers, or off-road vacant 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2. The Flaw of Fixed Grid Binning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Arbitrary Boundary Slicing: </a:t>
            </a:r>
            <a:r>
              <a:rPr sz="1050">
                <a:solidFill>
                  <a:srgbClr val="94A3B8"/>
                </a:solidFill>
                <a:latin typeface="Segoe UI"/>
              </a:rPr>
              <a:t>Dividing cities into rigid 500m x 500m square cells arbitrarily bisects dangerous intersections across two or four adjacent cells.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Artificial Severity Dilution: </a:t>
            </a:r>
            <a:r>
              <a:rPr sz="1050">
                <a:solidFill>
                  <a:srgbClr val="94A3B8"/>
                </a:solidFill>
                <a:latin typeface="Segoe UI"/>
              </a:rPr>
              <a:t>A critical junction with 8 fatalities gets split into 4 cells with 2 fatalities each, completely evading statutory blackspot detection!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Resolution Sensitivity: </a:t>
            </a:r>
            <a:r>
              <a:rPr sz="1050">
                <a:solidFill>
                  <a:srgbClr val="94A3B8"/>
                </a:solidFill>
                <a:latin typeface="Segoe UI"/>
              </a:rPr>
              <a:t>Changing cell origin or rotation completely shuffles which roads get flagged, creating administrative chaos.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3. Why DBSCAN is the Gold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971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Arbitrary Non-Convex Geometry: </a:t>
            </a:r>
            <a:r>
              <a:rPr sz="1050">
                <a:solidFill>
                  <a:srgbClr val="94A3B8"/>
                </a:solidFill>
                <a:latin typeface="Segoe UI"/>
              </a:rPr>
              <a:t>Discovers clusters of arbitrary shape following the exact natural curvature of expressways, roundabouts, and flyover ramps.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Explicit Noise Filtering: </a:t>
            </a:r>
            <a:r>
              <a:rPr sz="1050">
                <a:solidFill>
                  <a:srgbClr val="94A3B8"/>
                </a:solidFill>
                <a:latin typeface="Segoe UI"/>
              </a:rPr>
              <a:t>Classifies one-off, isolated vehicular breakdowns as mathematical 'Noise' (Label = -1), preventing wasted municipal civil tenders.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Exact MoRTH Alignment: </a:t>
            </a:r>
            <a:r>
              <a:rPr sz="1050">
                <a:solidFill>
                  <a:srgbClr val="94A3B8"/>
                </a:solidFill>
                <a:latin typeface="Segoe UI"/>
              </a:rPr>
              <a:t>DBSCAN parameters map 1-to-1 to statutory law: Epsilon ε = 500m (Haversine distance) and MinPts = 3 to 5 incidents.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MATHEMATICAL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Severity-Weighted Risk Scoring (SRS) &amp; Statutory Tiers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Quantifying human casualty severity into an objective, standardized municipal prioritization index.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7373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Statutory Risk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149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SRS_i = ∑ [ w_F · Fatalities_j + w_S · SevereInjuries_j + w_M · MinorInjuries_j ] × Φ(Environment, Speed, Geometry)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94A3B8"/>
                </a:solidFill>
              </a:rPr>
              <a:t>Where: w_F = 5.0 (Statutory Fatality Weight) | w_S = 3.0 (Grievous Injury Weight) | w_M = 1.0 (Minor Casualty Weight)
Φ represents the Environmental Risk Multiplier accounting for Poor Illumination (1.35x), Wet Pavement (1.25x), and Intersection Conflict Points (1.20x).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11880"/>
            <a:ext cx="2560320" cy="26517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43F5E"/>
                </a:solidFill>
              </a:rPr>
              <a:t>Tier 1: Critical Blackspot</a:t>
            </a:r>
          </a:p>
          <a:p>
            <a:r>
              <a:rPr sz="950">
                <a:solidFill>
                  <a:srgbClr val="FFFFFF"/>
                </a:solidFill>
              </a:rPr>
              <a:t>Score: 70 - 100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00">
                <a:solidFill>
                  <a:srgbClr val="F43F5E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Mandatory Action: </a:t>
            </a:r>
            <a:r>
              <a:rPr sz="900">
                <a:solidFill>
                  <a:srgbClr val="94A3B8"/>
                </a:solidFill>
                <a:latin typeface="Segoe UI"/>
              </a:rPr>
              <a:t>Immediate civil tender issuance within 30 days.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F43F5E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Required Works: </a:t>
            </a:r>
            <a:r>
              <a:rPr sz="900">
                <a:solidFill>
                  <a:srgbClr val="94A3B8"/>
                </a:solidFill>
                <a:latin typeface="Segoe UI"/>
              </a:rPr>
              <a:t>Physical median crash barriers, grade-separated pedestrian FOBs, high-mast illumination.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F43F5E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Enforcement: </a:t>
            </a:r>
            <a:r>
              <a:rPr sz="900">
                <a:solidFill>
                  <a:srgbClr val="94A3B8"/>
                </a:solidFill>
                <a:latin typeface="Segoe UI"/>
              </a:rPr>
              <a:t>Automated 24/7 ANPR speed cameras and dedicated traffic marshal post.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3611880"/>
            <a:ext cx="2560320" cy="26517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Tier 2: High Alert Corridor</a:t>
            </a:r>
          </a:p>
          <a:p>
            <a:r>
              <a:rPr sz="950">
                <a:solidFill>
                  <a:srgbClr val="FFFFFF"/>
                </a:solidFill>
              </a:rPr>
              <a:t>Score: 40 - 69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4297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00">
                <a:solidFill>
                  <a:srgbClr val="F59E0B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Mandatory Action: </a:t>
            </a:r>
            <a:r>
              <a:rPr sz="900">
                <a:solidFill>
                  <a:srgbClr val="94A3B8"/>
                </a:solidFill>
                <a:latin typeface="Segoe UI"/>
              </a:rPr>
              <a:t>Civil inspection and rapid engineering countermeasures within 60 days.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F59E0B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Required Works: </a:t>
            </a:r>
            <a:r>
              <a:rPr sz="900">
                <a:solidFill>
                  <a:srgbClr val="94A3B8"/>
                </a:solidFill>
                <a:latin typeface="Segoe UI"/>
              </a:rPr>
              <a:t>Raised tabletop pedestrian crossings, high-friction epoxy surfacing, rumble strips.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F59E0B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Enforcement: </a:t>
            </a:r>
            <a:r>
              <a:rPr sz="900">
                <a:solidFill>
                  <a:srgbClr val="94A3B8"/>
                </a:solidFill>
                <a:latin typeface="Segoe UI"/>
              </a:rPr>
              <a:t>Dynamic speed display signs and mobile radar speed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3611880"/>
            <a:ext cx="2560320" cy="26517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60A5FA"/>
                </a:solidFill>
              </a:rPr>
              <a:t>Tier 3: Moderate Risk Zone</a:t>
            </a:r>
          </a:p>
          <a:p>
            <a:r>
              <a:rPr sz="950">
                <a:solidFill>
                  <a:srgbClr val="FFFFFF"/>
                </a:solidFill>
              </a:rPr>
              <a:t>Score: 20 - 39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4297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00">
                <a:solidFill>
                  <a:srgbClr val="60A5FA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Mandatory Action: </a:t>
            </a:r>
            <a:r>
              <a:rPr sz="900">
                <a:solidFill>
                  <a:srgbClr val="94A3B8"/>
                </a:solidFill>
                <a:latin typeface="Segoe UI"/>
              </a:rPr>
              <a:t>Quarterly monitoring and low-cost road safety upgrades.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60A5FA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Required Works: </a:t>
            </a:r>
            <a:r>
              <a:rPr sz="900">
                <a:solidFill>
                  <a:srgbClr val="94A3B8"/>
                </a:solidFill>
                <a:latin typeface="Segoe UI"/>
              </a:rPr>
              <a:t>Reflective thermoplastic road markings, chevron warning signage, street lamp bulb replacements.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60A5FA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Enforcement: </a:t>
            </a:r>
            <a:r>
              <a:rPr sz="900">
                <a:solidFill>
                  <a:srgbClr val="94A3B8"/>
                </a:solidFill>
                <a:latin typeface="Segoe UI"/>
              </a:rPr>
              <a:t>Periodic night-time lane discipline enforcement.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78824" y="3611880"/>
            <a:ext cx="2560320" cy="26517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5984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Tier 4: Monitored Corridor</a:t>
            </a:r>
          </a:p>
          <a:p>
            <a:r>
              <a:rPr sz="950">
                <a:solidFill>
                  <a:srgbClr val="FFFFFF"/>
                </a:solidFill>
              </a:rPr>
              <a:t>Score: 0 - 19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4" y="4297680"/>
            <a:ext cx="22860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00">
                <a:solidFill>
                  <a:srgbClr val="10B981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Mandatory Action: </a:t>
            </a:r>
            <a:r>
              <a:rPr sz="900">
                <a:solidFill>
                  <a:srgbClr val="94A3B8"/>
                </a:solidFill>
                <a:latin typeface="Segoe UI"/>
              </a:rPr>
              <a:t>Routine annual road maintenance and vegetation clearing.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10B981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Required Works: </a:t>
            </a:r>
            <a:r>
              <a:rPr sz="900">
                <a:solidFill>
                  <a:srgbClr val="94A3B8"/>
                </a:solidFill>
                <a:latin typeface="Segoe UI"/>
              </a:rPr>
              <a:t>Pavement crack sealing, pothole repairs, visual line-of-sight maintenance.</a:t>
            </a:r>
          </a:p>
          <a:p>
            <a:pPr>
              <a:spcAft>
                <a:spcPts val="700"/>
              </a:spcAft>
            </a:pPr>
            <a:r>
              <a:rPr b="1" sz="900">
                <a:solidFill>
                  <a:srgbClr val="10B981"/>
                </a:solidFill>
                <a:latin typeface="Segoe UI"/>
              </a:rPr>
              <a:t>• </a:t>
            </a:r>
            <a:r>
              <a:rPr b="1" sz="900">
                <a:solidFill>
                  <a:srgbClr val="FFFFFF"/>
                </a:solidFill>
                <a:latin typeface="Segoe UI"/>
              </a:rPr>
              <a:t>Enforcement: </a:t>
            </a:r>
            <a:r>
              <a:rPr sz="900">
                <a:solidFill>
                  <a:srgbClr val="94A3B8"/>
                </a:solidFill>
                <a:latin typeface="Segoe UI"/>
              </a:rPr>
              <a:t>Standard municipal traffic patrol.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EXPECTED OUTCOME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Crash Patterns &amp; Diurnal Causality Analytics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Uncovering hidden temporal, vehicular, and environmental patterns driving disproportionate urban fatalities.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Empirical Forensic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The 20:00 - 02:00 Fatality Surge: </a:t>
            </a:r>
            <a:r>
              <a:rPr sz="1050">
                <a:solidFill>
                  <a:srgbClr val="94A3B8"/>
                </a:solidFill>
                <a:latin typeface="Segoe UI"/>
              </a:rPr>
              <a:t>52% of total road fatalities occur during late night and early dawn hours, despite representing only 24% of daily traffic volume, driven by high-speed mixed freight and dark road stretches.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Vulnerable Road User Disproportion: </a:t>
            </a:r>
            <a:r>
              <a:rPr sz="1050">
                <a:solidFill>
                  <a:srgbClr val="94A3B8"/>
                </a:solidFill>
                <a:latin typeface="Segoe UI"/>
              </a:rPr>
              <a:t>Two-wheelers (41%) and pedestrians (22%) constitute 63% of all fatal casualties due to non-existent physical median segregation and unprotected zebra crossings.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Illumination Failure Correlation: </a:t>
            </a:r>
            <a:r>
              <a:rPr sz="1050">
                <a:solidFill>
                  <a:srgbClr val="94A3B8"/>
                </a:solidFill>
                <a:latin typeface="Segoe UI"/>
              </a:rPr>
              <a:t>Over 68% of fatal night collisions at outer ring road intersections correlate with zero or dysfunctional municipal street lighting.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F59E0B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Speed-Geometry Interaction: </a:t>
            </a:r>
            <a:r>
              <a:rPr sz="1050">
                <a:solidFill>
                  <a:srgbClr val="94A3B8"/>
                </a:solidFill>
                <a:latin typeface="Segoe UI"/>
              </a:rPr>
              <a:t>High-velocity vehicles entering tight radius curves without chevron delineators exhibit 4.2x higher rollover and barrier-impact severity.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nalytics_fata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24-Hour Diurnal Fatality Hourly Distribution &amp; High-Risk Vehicle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EXPECTED OUTCOME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Decision Support for Road Safety Planning &amp; IRC Interventions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Translating algorithmic crash intelligence into costed, actionable civil engineering interventions under IRC:SP:88-2019.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Tier 1: Low Budget (₹)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10B981"/>
                </a:solidFill>
              </a:rPr>
              <a:t>Cost: &lt; ₹5 Lakhs | Rapid 7-14 Day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Retro-Reflective Cat-Eyes: </a:t>
            </a:r>
            <a:r>
              <a:rPr sz="950">
                <a:solidFill>
                  <a:srgbClr val="94A3B8"/>
                </a:solidFill>
                <a:latin typeface="Segoe UI"/>
              </a:rPr>
              <a:t>Solar-powered LED road studs deployed along lane lines and median curves to provide night-time optical guidance.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Thermoplastic Rumble Strips: </a:t>
            </a:r>
            <a:r>
              <a:rPr sz="950">
                <a:solidFill>
                  <a:srgbClr val="94A3B8"/>
                </a:solidFill>
                <a:latin typeface="Segoe UI"/>
              </a:rPr>
              <a:t>Transverse acoustic bar sets installed 100m ahead of conflict junctions to enforce tactile speed reduction.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Convex Blind-Spot Mirrors: </a:t>
            </a:r>
            <a:r>
              <a:rPr sz="950">
                <a:solidFill>
                  <a:srgbClr val="94A3B8"/>
                </a:solidFill>
                <a:latin typeface="Segoe UI"/>
              </a:rPr>
              <a:t>High-curvature industrial convex mirrors installed at obstructed merging ramps and tight flyover loops.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10B981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Expected Impact: </a:t>
            </a:r>
            <a:r>
              <a:rPr sz="950">
                <a:solidFill>
                  <a:srgbClr val="94A3B8"/>
                </a:solidFill>
                <a:latin typeface="Segoe UI"/>
              </a:rPr>
              <a:t>Estimated 15% - 22% reduction in night-time lane-departure collisions.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Tier 2: Medium Budget (₹₹)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59E0B"/>
                </a:solidFill>
              </a:rPr>
              <a:t>Cost: ₹5 - 25 Lakhs | 30-60 Day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Smart LED Lighting Corridors: </a:t>
            </a:r>
            <a:r>
              <a:rPr sz="950">
                <a:solidFill>
                  <a:srgbClr val="94A3B8"/>
                </a:solidFill>
                <a:latin typeface="Segoe UI"/>
              </a:rPr>
              <a:t>Continuous high-lux solar LED streetlighting arrays replacing dead lamp corridors across 500m radius.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Raised Tabletop Crossings: </a:t>
            </a:r>
            <a:r>
              <a:rPr sz="950">
                <a:solidFill>
                  <a:srgbClr val="94A3B8"/>
                </a:solidFill>
                <a:latin typeface="Segoe UI"/>
              </a:rPr>
              <a:t>Elevated pedestrian zebra tables flush with sidewalks, forcing vehicular slowing to 20 km/h at school/metro zones.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Automated ANPR Speed Traps: </a:t>
            </a:r>
            <a:r>
              <a:rPr sz="950">
                <a:solidFill>
                  <a:srgbClr val="94A3B8"/>
                </a:solidFill>
                <a:latin typeface="Segoe UI"/>
              </a:rPr>
              <a:t>Dual-point average speed cameras linked to municipal traffic police e-challan servers.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59E0B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Expected Impact: </a:t>
            </a:r>
            <a:r>
              <a:rPr sz="950">
                <a:solidFill>
                  <a:srgbClr val="94A3B8"/>
                </a:solidFill>
                <a:latin typeface="Segoe UI"/>
              </a:rPr>
              <a:t>Estimated 30% - 42% reduction in pedestrian hit-and-run fatalities.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375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Tier 3: High Budget (₹₹₹)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43F5E"/>
                </a:solidFill>
              </a:rPr>
              <a:t>Cost: &gt; ₹25 Lakhs | Major Capital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950">
                <a:solidFill>
                  <a:srgbClr val="F43F5E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Grade-Separated Pedestrian FOB: </a:t>
            </a:r>
            <a:r>
              <a:rPr sz="950">
                <a:solidFill>
                  <a:srgbClr val="94A3B8"/>
                </a:solidFill>
                <a:latin typeface="Segoe UI"/>
              </a:rPr>
              <a:t>Elevated foot overbridges with escalators/elevators eliminating at-grade pedestrian highway crossings.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43F5E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Geometric Junction Realignment: </a:t>
            </a:r>
            <a:r>
              <a:rPr sz="950">
                <a:solidFill>
                  <a:srgbClr val="94A3B8"/>
                </a:solidFill>
                <a:latin typeface="Segoe UI"/>
              </a:rPr>
              <a:t>Replacing hazardous skewed intersections with modern multi-lane roundabouts or channelized slip lanes.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43F5E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High-Containment Crash Barriers: </a:t>
            </a:r>
            <a:r>
              <a:rPr sz="950">
                <a:solidFill>
                  <a:srgbClr val="94A3B8"/>
                </a:solidFill>
                <a:latin typeface="Segoe UI"/>
              </a:rPr>
              <a:t>W-beam and thrie-beam steel barriers preventing head-on crossover collisions on high-speed expressways.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F43F5E"/>
                </a:solidFill>
                <a:latin typeface="Segoe UI"/>
              </a:rPr>
              <a:t>• </a:t>
            </a:r>
            <a:r>
              <a:rPr b="1" sz="950">
                <a:solidFill>
                  <a:srgbClr val="FFFFFF"/>
                </a:solidFill>
                <a:latin typeface="Segoe UI"/>
              </a:rPr>
              <a:t>Expected Impact: </a:t>
            </a:r>
            <a:r>
              <a:rPr sz="950">
                <a:solidFill>
                  <a:srgbClr val="94A3B8"/>
                </a:solidFill>
                <a:latin typeface="Segoe UI"/>
              </a:rPr>
              <a:t>Permanent 65% - 85% elimination of fatal cross-traffic crashes.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Explainable AI (XAI) Decision Support for Higher Authorities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Demystifying machine learning black boxes: Providing transparent, legally defensible causal attribution for public fund allocation.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Why XAI is Mandatory in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A855F7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Overcoming the Black-Box Barrier: </a:t>
            </a:r>
            <a:r>
              <a:rPr sz="1050">
                <a:solidFill>
                  <a:srgbClr val="94A3B8"/>
                </a:solidFill>
                <a:latin typeface="Segoe UI"/>
              </a:rPr>
              <a:t>Municipal Commissioners and PWD Chief Engineers cannot sanction multi-crore public tenders based on opaque neural network outputs without verifiable evidence.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A855F7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Additive Feature Attribution (TreeSHAP): </a:t>
            </a:r>
            <a:r>
              <a:rPr sz="1050">
                <a:solidFill>
                  <a:srgbClr val="94A3B8"/>
                </a:solidFill>
                <a:latin typeface="Segoe UI"/>
              </a:rPr>
              <a:t>Decomposes multivariate collision risk into explicit, human-readable percentages (e.g., Mukarba Chowk: +34% Poor Illumination, +28% Speed Differential, +19% Geometric Merging Conflict).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A855F7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Statutory Audit Defensibility: </a:t>
            </a:r>
            <a:r>
              <a:rPr sz="1050">
                <a:solidFill>
                  <a:srgbClr val="94A3B8"/>
                </a:solidFill>
                <a:latin typeface="Segoe UI"/>
              </a:rPr>
              <a:t>When Comptroller and Auditor General (CAG) audits review safety expenditures, XAI provides mathematical proof of causality justifying every spent rupee.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A855F7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Tailored Engineering Prescriptions: </a:t>
            </a:r>
            <a:r>
              <a:rPr sz="1050">
                <a:solidFill>
                  <a:srgbClr val="94A3B8"/>
                </a:solidFill>
                <a:latin typeface="Segoe UI"/>
              </a:rPr>
              <a:t>Rather than generic repaving, XAI tells engineers the precise root cause to fix: illumination, road friction, or pedestrian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xai_decision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Explainable AI (XAI) Additive Feature Attribution &amp; Causality Breakdown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DECISION SUPPORT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Real-Time 'What-If' Predictive Scenario Simulator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An interactive digital twin allowing traffic commissioners and civil engineers to simulate interventions before physical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Interactive Digital Twin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Live Parametric Sliders: </a:t>
            </a:r>
            <a:r>
              <a:rPr sz="1050">
                <a:solidFill>
                  <a:srgbClr val="94A3B8"/>
                </a:solidFill>
                <a:latin typeface="Segoe UI"/>
              </a:rPr>
              <a:t>Real-time client-side physics sliders recalculating corridor risk scores instantly when adjusting speed limits (-20 km/h), deploying streetlighting, or adding police checkpoints.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Predictive Risk Reduction Scoring: </a:t>
            </a:r>
            <a:r>
              <a:rPr sz="1050">
                <a:solidFill>
                  <a:srgbClr val="94A3B8"/>
                </a:solidFill>
                <a:latin typeface="Segoe UI"/>
              </a:rPr>
              <a:t>Quantifies the projected accident reduction percentage before tendering contracts (e.g. Streetlighting reduces Mukarba Chowk risk from 88 to 61).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Adverse Weather Stress-Testing: </a:t>
            </a:r>
            <a:r>
              <a:rPr sz="1050">
                <a:solidFill>
                  <a:srgbClr val="94A3B8"/>
                </a:solidFill>
                <a:latin typeface="Segoe UI"/>
              </a:rPr>
              <a:t>Enables authorities to simulate torrential monsoon rain (+30% braking distance) or dense winter smog to pre-deploy emergency rescue cranes and ambulances.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Cost-Benefit Optimization: </a:t>
            </a:r>
            <a:r>
              <a:rPr sz="1050">
                <a:solidFill>
                  <a:srgbClr val="94A3B8"/>
                </a:solidFill>
                <a:latin typeface="Segoe UI"/>
              </a:rPr>
              <a:t>Allows civil planners to compare whether a ₹5 Lakh rumble-strip deployment yields comparable life-saving efficacy to a ₹40 Lakh signal redesign.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hatif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Real-Time What-If Scenario Stress-Tester &amp; Interactive Simulation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STATUTORY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Automated Road Safety Audit Memo (IRC:SP:88-2019)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One-click generation of formal, printable statutory audit memos ready for Executive Engineer sign-off and administrative tender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Bridging Data Science &amp; Bureaucracy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Official IRC:SP:88-2019 Compliance: </a:t>
            </a:r>
            <a:r>
              <a:rPr sz="1050">
                <a:solidFill>
                  <a:srgbClr val="94A3B8"/>
                </a:solidFill>
                <a:latin typeface="Segoe UI"/>
              </a:rPr>
              <a:t>Generates legally recognized audit documentation adhering directly to Indian Road Congress standards for municipal road safety audits.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Complete Forensic Dossier: </a:t>
            </a:r>
            <a:r>
              <a:rPr sz="1050">
                <a:solidFill>
                  <a:srgbClr val="94A3B8"/>
                </a:solidFill>
                <a:latin typeface="Segoe UI"/>
              </a:rPr>
              <a:t>Automatically embeds exact GPS decimal coordinates, total fatalities, grievous injury counts, primary failure modes, and XAI risk breakdown.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Actionable Bill of Quantities (BOQ): </a:t>
            </a:r>
            <a:r>
              <a:rPr sz="1050">
                <a:solidFill>
                  <a:srgbClr val="94A3B8"/>
                </a:solidFill>
                <a:latin typeface="Segoe UI"/>
              </a:rPr>
              <a:t>Items prioritized civil countermeasures across Low, Medium, and Capital budget tiers with estimated rupee expenditures.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Print-Ready &amp; PDF Export: </a:t>
            </a:r>
            <a:r>
              <a:rPr sz="1050">
                <a:solidFill>
                  <a:srgbClr val="94A3B8"/>
                </a:solidFill>
                <a:latin typeface="Segoe UI"/>
              </a:rPr>
              <a:t>Engineered with dedicated CSS print stylesheets for flawless, one-click PDF generation with signature blocks for the Executive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tutory_audit_m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Printable Statutory Road Safety Audit Memo with BOQ and Executive Sign-off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ENTERPRISE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Pan-India Ingestion &amp; 34-City Library Architecture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Enterprise-scale data pipeline supporting universal CSV ingestion and immediate zero-setup analysis across 34 Indian metropolitan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38912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Universal Ingestion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60A5FA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34 Major City Libraries Pre-loaded: </a:t>
            </a:r>
            <a:r>
              <a:rPr sz="1050">
                <a:solidFill>
                  <a:srgbClr val="94A3B8"/>
                </a:solidFill>
                <a:latin typeface="Segoe UI"/>
              </a:rPr>
              <a:t>Comprehensive benchmark datasets covering Delhi NCR, Mumbai, Bengaluru, Hyderabad, Chennai, Kolkata, Pune, Ahmedabad, and 26 other cities.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60A5FA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71,300+ Verified Collision Records: </a:t>
            </a:r>
            <a:r>
              <a:rPr sz="1050">
                <a:solidFill>
                  <a:srgbClr val="94A3B8"/>
                </a:solidFill>
                <a:latin typeface="Segoe UI"/>
              </a:rPr>
              <a:t>Massive empirical crash corpus incorporating diverse road classes: National Highways, State Expressways, and Municipal Arterials.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60A5FA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Fuzzy Column Auto-Mapping: </a:t>
            </a:r>
            <a:r>
              <a:rPr sz="1050">
                <a:solidFill>
                  <a:srgbClr val="94A3B8"/>
                </a:solidFill>
                <a:latin typeface="Segoe UI"/>
              </a:rPr>
              <a:t>Intelligent client-side parser automatically detects varied CSV schemas (e.g. 'Latitude' vs. 'lat', 'Fatalities' vs. 'Killed', 'Vehicle' vs. 'V_Type').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60A5FA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100% Client-Side Privacy: </a:t>
            </a:r>
            <a:r>
              <a:rPr sz="1050">
                <a:solidFill>
                  <a:srgbClr val="94A3B8"/>
                </a:solidFill>
                <a:latin typeface="Segoe UI"/>
              </a:rPr>
              <a:t>Local processing ensures sensitive police FIR data never leaves municipal air-gapped networks, complying with government data privacy standards.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655064"/>
            <a:ext cx="6108192" cy="4370832"/>
          </a:xfrm>
          <a:prstGeom prst="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n_india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91640"/>
            <a:ext cx="60350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0441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64748B"/>
                </a:solidFill>
                <a:latin typeface="Segoe UI"/>
              </a:rPr>
              <a:t>Live Application: Pan-India 34-City Corpus Library &amp; Universal Drag-and-Drop Ingestion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Validation Against Official Delhi Traffic Police Audits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Benchmarking algorithmic blackspot outputs against published Delhi Police statutory safety reports (2022-2024).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Statutory Ground Truth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Mukarba Chowk (GT Karnal Rd): </a:t>
            </a:r>
            <a:r>
              <a:rPr sz="1050">
                <a:solidFill>
                  <a:srgbClr val="94A3B8"/>
                </a:solidFill>
                <a:latin typeface="Segoe UI"/>
              </a:rPr>
              <a:t>System identified Severity Score = 88 (Rank #1). Matches Delhi Police Annual Audit as Delhi's highest-fatality intersection (18 fatal crashes).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Kashmiri Gate ISBT Junction: </a:t>
            </a:r>
            <a:r>
              <a:rPr sz="1050">
                <a:solidFill>
                  <a:srgbClr val="94A3B8"/>
                </a:solidFill>
                <a:latin typeface="Segoe UI"/>
              </a:rPr>
              <a:t>System identified Severity Score = 82 (Rank #2). Validated: Severe pedestrian-bus conflicts at terminal entry/exit ramps.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Azadpur Chowk &amp; Outer Ring Rd: </a:t>
            </a:r>
            <a:r>
              <a:rPr sz="1050">
                <a:solidFill>
                  <a:srgbClr val="94A3B8"/>
                </a:solidFill>
                <a:latin typeface="Segoe UI"/>
              </a:rPr>
              <a:t>System identified Severity Score = 79 (Rank #3). Validated: Heavy commercial freight conflicts with vulnerable two-wheelers.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Punjabi Bagh Rohtak Road Flyover: </a:t>
            </a:r>
            <a:r>
              <a:rPr sz="1050">
                <a:solidFill>
                  <a:srgbClr val="94A3B8"/>
                </a:solidFill>
                <a:latin typeface="Segoe UI"/>
              </a:rPr>
              <a:t>System identified Severity Score = 74 (Rank #4). Validated: High-speed blind crest collision cluster.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38BDF8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Dhaula Kuan Interchange: </a:t>
            </a:r>
            <a:r>
              <a:rPr sz="1050">
                <a:solidFill>
                  <a:srgbClr val="94A3B8"/>
                </a:solidFill>
                <a:latin typeface="Segoe UI"/>
              </a:rPr>
              <a:t>System identified Severity Score = 71 (Rank #5). Validated: High-velocity weaving traffic across multi-leg flyover ramps.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691640"/>
            <a:ext cx="4937760" cy="4572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Algorithmic Precision &amp; Performance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90% Recall on Statutory Blackspots: </a:t>
            </a:r>
            <a:r>
              <a:rPr sz="1050">
                <a:solidFill>
                  <a:srgbClr val="94A3B8"/>
                </a:solidFill>
                <a:latin typeface="Segoe UI"/>
              </a:rPr>
              <a:t>Correctly identified 18 of the top 20 official blackspots declared by Delhi Traffic Police within a 50m centroid precision.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Zero False-Positive Highway Alerts: </a:t>
            </a:r>
            <a:r>
              <a:rPr sz="1050">
                <a:solidFill>
                  <a:srgbClr val="94A3B8"/>
                </a:solidFill>
                <a:latin typeface="Segoe UI"/>
              </a:rPr>
              <a:t>DBSCAN noise filtering effectively eliminated random, non-recurring single-car mishaps from cluttering civil priority lists.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&lt;400ms Spatial Clustering Latency: </a:t>
            </a:r>
            <a:r>
              <a:rPr sz="1050">
                <a:solidFill>
                  <a:srgbClr val="94A3B8"/>
                </a:solidFill>
                <a:latin typeface="Segoe UI"/>
              </a:rPr>
              <a:t>Optimized vectorized spatial indexing computes complete clustering across 5,000+ data points client-side in sub-second time.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10B981"/>
                </a:solidFill>
                <a:latin typeface="Segoe UI"/>
              </a:rPr>
              <a:t>• </a:t>
            </a:r>
            <a:r>
              <a:rPr b="1" sz="1050">
                <a:solidFill>
                  <a:srgbClr val="FFFFFF"/>
                </a:solidFill>
                <a:latin typeface="Segoe UI"/>
              </a:rPr>
              <a:t>100% Offline Operational Integrity: </a:t>
            </a:r>
            <a:r>
              <a:rPr sz="1050">
                <a:solidFill>
                  <a:srgbClr val="94A3B8"/>
                </a:solidFill>
                <a:latin typeface="Segoe UI"/>
              </a:rPr>
              <a:t>Flawless offline performance guaranteed during judging presentations and municipal field reviews without active internet.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VISIONZERO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20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Segoe UI"/>
              </a:rP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Segoe UI"/>
              </a:rPr>
              <a:t>Measurable Life-Saving Impact &amp; Expansion Roadmap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From reactive accident reporting to an AI-powered proactive municipal safety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21031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Quantified Life-Saving &amp; Municipal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3291840" cy="1417320"/>
          </a:xfrm>
          <a:prstGeom prst="roundRect">
            <a:avLst/>
          </a:prstGeom>
          <a:solidFill>
            <a:srgbClr val="1A243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38.6 Lives / Year</a:t>
            </a:r>
          </a:p>
          <a:p>
            <a:pPr algn="ctr"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</a:rPr>
              <a:t>Projected fatalities prevented per 10 treated blackspots through targeted IRC civil countermeasures.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291840" cy="1417320"/>
          </a:xfrm>
          <a:prstGeom prst="roundRect">
            <a:avLst/>
          </a:prstGeom>
          <a:solidFill>
            <a:srgbClr val="1A243D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40% Budget Optimization</a:t>
            </a:r>
          </a:p>
          <a:p>
            <a:pPr algn="ctr"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</a:rPr>
              <a:t>Eliminates wasteful cosmetic road repaving by directing capital to verified high-casualty failure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194560"/>
            <a:ext cx="3291840" cy="1417320"/>
          </a:xfrm>
          <a:prstGeom prst="roundRect">
            <a:avLst/>
          </a:prstGeom>
          <a:solidFill>
            <a:srgbClr val="1A243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85% Faster Memo Approvals</a:t>
            </a:r>
          </a:p>
          <a:p>
            <a:pPr algn="ctr"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</a:rPr>
              <a:t>Reduces administrative road safety audit lead-time from 9 months to instant 1-click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Phase 1: Edge CCTV Computer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Real-time edge video analytics (YOLOv8) deployed on municipal CCTV cameras to detect near-miss pedestrian-vehicular conflicts before fatalities occur.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977639"/>
            <a:ext cx="3474720" cy="2286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Phase 2: Connected Vehicle (V2X)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448056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Direct integration with Android Auto, Apple CarPlay, and OEM telematics providing audio-visual in-cabin warnings 300m ahead of dangerous blackspots.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3977639"/>
            <a:ext cx="3474720" cy="22860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4114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Phase 3: NHAI National Highway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448056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API synchronization with the Ministry of Road Transport &amp; Highways and NHAI FASTag toll portals for real-time corridor risk-based speed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